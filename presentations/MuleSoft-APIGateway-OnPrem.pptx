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MuleSoft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>
                <a:solidFill>
                  <a:srgbClr val="DEEBF7"/>
                </a:solidFill>
                <a:latin typeface="Calibri"/>
              </a:rPr>
              <a:t>On-Prem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Anypoint Flex Gateway in your data center — active/active across DCs with full operational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Prepared by the Integration Architecture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  <a:latin typeface="Calibri"/>
              </a:rPr>
              <a:t>v1.0  ·  Companion to the SaaS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on-prem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The scenarios where SaaS isn't viable, and we accept the operational responsibility in exchange for full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Regulatory regime mandates on-prem — some sovereign-cloud, defense, classified, or healthcare contexts where any SaaS-managed runtime is non-starter.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Risk appetite cannot accept ANY MuleSoft personnel access to runtime infrastructure — even contractually constrained (SOC 2 + DPA insufficient).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We already operate a hardened on-prem PII platform (HSM, dedicated SOC, DLP, SIEM, internal CA) — adding the gateway is incremental, not greenfield.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Sustained volume &gt; 5–10M calls/day — at this scale, amortized on-prem hardware undercuts the SaaS license model.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True air-gap operation required — no outbound connection to anypoint.mulesoft.com is permitted (forces Local mode; no SaaS control plane at all).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Strategic preference to control upgrade cadence, monitoring stack, incident response, and audit trails entirely in-house.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70448"/>
            <a:ext cx="3657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The trade-off you accept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44768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OS patching, runtime upgrades, HA, scaling, monitoring, incident response — all yours. The SaaS path absorbs these; on-prem doesn't.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On-prem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Active/active two-DC topology with F5 GSLB, GitOps-driven config, Vault-managed secrets</a:t>
            </a:r>
          </a:p>
        </p:txBody>
      </p:sp>
      <p:pic>
        <p:nvPicPr>
          <p:cNvPr id="5" name="Picture 4" descr="onpr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13816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95360" y="1371600"/>
            <a:ext cx="3383280" cy="49377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32461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Active/active across two DCs — both serve traffic simultaneously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F5 BIG-IP DNS / GSLB fronts both DCs with 30s TTL health-checked failover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Per-DC F5 LTM in front of 2 Flex Gateway replicas (4 replicas total)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Git is the config source of truth → Ansible AWX pushes to both DCs in parallel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HashiCorp Vault performance replication keeps secrets in-sync sub-second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Optional outbound mTLS to Anypoint Control Plane (Connected mode only)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MS Integration Stack replicated across DCs (own DR mechanism)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Splunk HEC + Datadog APM dual-shipped from each replica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Deployment modes — Connected vs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Same Flex Gateway binary; the difference is whether you stay tied to the Anypoint Control Plane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4206240"/>
              </a:tblGrid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Connected mode (recommended)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Local mode (fully air-gapped)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Outbound connection to anypoint.mulesoft.com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Required (HTTPS 443, mTLS)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None — fully isolated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Source of truth for policy config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Anypoint API Manager (SaaS)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YAML files in your Git repo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Policy push mechanism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Long-polled from Anypoint, ~2–10s end-to-end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CI pipeline → Ansible AWX → SIGHUP hot reload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Central API catalog (Exchange)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 — single source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— your own catalog (Backstage / wiki)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Anypoint Monitoring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 — built-in dashboards + analytics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Not available; SIEM-only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Audit log of admin actions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Anypoint Audit Log + forwarded to SIEM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SIEM only (Git history + Ansible logs)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Resilience to anypoint.mulesoft.com outage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Local policy cache survives ~24h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N/A — no dependency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Licensing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Same Anypoint subscription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Same Anypoint subscription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Default on-prem path; SaaS control plane fine to use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Hard air-gap mandates / strict no-egress regimes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Install path — Standalone VM vs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Both supported; pick by existing platform footprint and team skills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34840"/>
                <a:gridCol w="4434840"/>
              </a:tblGrid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Standalone VM (RHEL / Ubuntu)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Kubernetes (OpenShift / Rancher / EKS-A)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Install mechanism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RPM / DEB package + systemd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Helm chart + Deployment + Service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 model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Manual — F5 LTM with VRRP / keepalived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Native — replicas + PodDisruptionBudget + anti-affinity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Self-healing on crash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systemd Restart=on-failure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Liveness/readiness probes + kubelet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Scaling out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Image + provision new VM + add to LB pool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Kubectl scale OR HPA in seconds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Rolling upgrades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Manual orchestration (Ansible Tower)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Native Deployment rolling strategy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Operational tooling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journalctl, systemctl, F5 console — familiar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kubectl, Helm, K8s dashboards — specialist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Compute overhead per node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~50 MB (just Flex)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~50 MB Flex + 0.5 vCPU + 1 GB K8s control-plane tax per worker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Config drift control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Ansible (manual discipline)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GitOps + ArgoCD / Flux — declarative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Cluster upgrade complexity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Quarterly project; rollback plan required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3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✔  Your team already runs Linux + F5; no existing K8s footprint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✔  K8s already a platform standard; cloud-native bet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Hardware sizing — 5M calls/day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Provision for peak, monitor utilization, scale per the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Per-replica spec (production)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vCPU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 (2 minimum)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 GB (2 GB minimum)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100 GB SSD (~10 GB/day logs at 5M)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NIC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 Gbps sufficient; 10 Gbps DC fabric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RHEL 9 / Ubuntu 22.04 LTS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Kernel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5.14+ (better TCP perf)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Time sync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NTP, max 60s skew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Target for 5M calls/day (Prod)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78308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</a:tblGrid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Peak TPS (5×) / spike (10×)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~600 / ~1,200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Replicas per DC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Number of DCs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 (active/active)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Total replicas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Per-replica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 vCPU / 8 GB RAM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Total Prod compute footprint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32 vCPU + 64 GB RAM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Headroom vs 1,200 TPS spike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~2× (monitor closely)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Sizing curve — when to upsize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6177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657600"/>
                <a:gridCol w="2743200"/>
              </a:tblGrid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Replicas / DC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Per-replica spec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compute (both DCs)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≤ 100K/day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vCPU / 4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vCPU + 16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1M/day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 vCPU / 8 GB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16 vCPU + 32 GB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5M/day (current target)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 vCPU / 8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32 vCPU + 64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10M/day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vCPU / 16 GB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64 vCPU + 128 GB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25M/day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vCPU / 16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96 vCPU + 192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50M/day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8+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vCPU / 16 GB + kernel tuning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128+ vCPU + 256+ GB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Environments — DEV / QA / Acceptance / 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QA mirrors Prod for accurate load testing — that decision drives roughly half of gateway compute spend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7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384"/>
                <a:gridCol w="1985107"/>
                <a:gridCol w="2580640"/>
                <a:gridCol w="2580640"/>
                <a:gridCol w="198510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QA (= Prod)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Acceptance / UAT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Volume target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sandbox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full 5M/day load 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smoke + integration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5M/day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DC topology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single DC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DCs active/active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DCs active/active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DCs active/active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Replicas per DC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Total replicas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Per-replica spec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vCPU / 2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 vCPU / 8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vCPU / 4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 vCPU / 8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Compute total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 + 2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32 + 64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+ 16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32 + 64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 dev node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Sentinel 3-node × 2 DCs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Sentinel 3-node × 1 DC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Sentinel 3-node × 2 DCs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Service Bus tier (if used)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Premium (load-test data)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Standard or Premium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 / DR drills validated here?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Yes — full Prod runbook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Yes (production)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4800600"/>
            <a:ext cx="7680960" cy="16916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Aggregated footprint across all 4 environments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93792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  <a:gridCol w="731520"/>
                <a:gridCol w="2194560"/>
              </a:tblGrid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UAT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Gateway replicas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Gateway vCPU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Gateway RAM (GB)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Redis nodes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133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TOTAL compute (vCPU + GB)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 + 4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44 + 76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 + 22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44 + 76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~106 vCPU + ~178 GB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38160" y="4800600"/>
            <a:ext cx="3749039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8646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Alternative worth considering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193792"/>
            <a:ext cx="365760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Ephemeral QA — spin up Prod-sized QA only during scheduled load-test windows (e.g. 2 days per release), tear down after.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Saves ~80% of QA compute cost in exchange for IaC / automation maturity.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Especially attractive on K8s (kubectl scale --replicas=0) or with Terraform-driven VMs.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Components to provision (on-prem)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What your network, PKI, and platform teams need to deliver before first install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286000"/>
                <a:gridCol w="4480560"/>
              </a:tblGrid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F5 BIG-IP DNS (GSLB) with cross-DC health checks, 30s TTL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Cross-DC failover and traffic distribution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F5 BIG-IP LTM per DC (HA pair, active/passive)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Per-DC L7 load balancing across Flex Gateway replicas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VMs or K8s nodes per DC, sized per slide 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Platform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Flex Gateway runtime hosts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Internal CA + cert lifecycle automation (cert-manager / Venafi)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PKI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mTLS for internal listener + backend, public-CA cert for external listener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HashiCorp Vault with performance replication across DCs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Security platform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Secrets, runtime registration token, backend credentials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Git repo + CI/CD pipeline (Jenkins / GitHub Actions / Tekton)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Platform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Source of truth for config; pushes to both DCs in parallel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Ansible Tower / AWX per DC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Platform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Per-DC config deployment + SIGHUP hot reload (Local mode)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Outbound HTTPS to anypoint.mulesoft.com on 443 (Connected mode only)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Policy push + telemetry to Anypoint Control Plane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Private DNS — internal zone with backend hostnames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DNS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Backend service resolution (e.g. biztalk-prod.internal.yourco)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Perimeter firewall + east-west FW rules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Inbound 443/8443 to gateway; outbound 443 to MS stack and IdP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NTP servers (Stratum-2 ideally)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Sysadmins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JWT exp/nbf validation requires &lt; 60s skew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SIEM (Splunk) + APM (Datadog) ingest endpoints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Dual-shipping from each Flex Gateway replica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Backup target for /etc/flex-gateway + Vault snapshots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Backup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Disaster recovery; daily cadence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223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DR-site provisioning (3rd DC or cloud) — optional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Platform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Multi-region geographic resilience beyond 2 metro DCs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Disaster recovery — posture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Pick the RTO/RPO point that matches your business continuity requirement and budget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1280160"/>
                <a:gridCol w="2194560"/>
                <a:gridCol w="12801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Posture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RTO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RPO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 (vs single DC)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A. Cold standby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DR site provisioned but stopped; manual power-on + DNS flip on failure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30–60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Zero for config (declarative)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B. Warm standby (active/passive)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DR site running but idle; GSLB sends 100% to primary; on failure flips to DR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1–5 min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Zero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1.8×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C. Active/active across DCs in same metro  (recommended)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Both DCs serve traffic; GSLB weighted round-robin; DC failure = GSLB removes node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 60 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Zero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2.0×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D. Multi-region active/active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DCs in different cities/regions (latency &gt; 50ms apart); geo-affinity routing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 60 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Near-zero (config) / backend-dependent (data)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2.2×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749039"/>
            <a:ext cx="11612880" cy="9144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22191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Recommendation for citizen-data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3385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Posture C — active/active across DC-1 and DC-2 within the same metro. RTO &lt; 60s with F5 GSLB + 30s DNS TTL is achievable and proven. Multi-region (D) only when geographic resilience is explicitly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DNS failover math (Posture C)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1663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GSLB health check interval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5–15 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Failure detection (3 consecutive misses)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15–45 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DNS TTL expiry on clients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≤ 30 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TOTAL worst-case RTO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≈ 60 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4800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Note on persistent 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138928"/>
            <a:ext cx="56692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Long-lived TLS / gRPC streams won't reconnect on DNS-only failover.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Mitigations: TCP RST from the LB to force reconnect; connection-draining timers on the LTM; short max-connection-age limits set by the gateway. Document this in the DR runbook for affected clients.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Config replication — Connected vs Local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How declarative state stays in lockstep across replicas and DCs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49377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Connected mode — Anypoint as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Every replica maintains an outbound long-polled HTTPS connection to anypoint.mulesoft.com. Policy changes in API Manager push to all connected replicas globally within seconds. Each replica caches policy locally so brief Anypoint outages don't drop traffic.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57600"/>
          <a:ext cx="53949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</a:tblGrid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Replication mechanism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Control Plane push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Push latency (change → live)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2–10 s end-to-end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RPO for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Zero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infrastructure needed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Resilience to Anypoint outage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Local cache ~24 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requirement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Outbound 443 to anypoint.mulesoft.com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1417320"/>
            <a:ext cx="566928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Local mode — Git + Ansible AWX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Config (declarative YAML) lives in a Git repo — single source of truth. CI pipeline pushes to BOTH DCs in parallel on merge to main. Per-DC Ansible Tower / AWX runs the file deploy + SIGHUP hot reload. Daily reconciliation drift-detects and corrects.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657600"/>
          <a:ext cx="5440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97480"/>
              </a:tblGrid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Replication mechanism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GitOps + Ansible AWX (parallel push)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Push latency (merge → live)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&lt; 30 s typical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RPO for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Zero (Git is authoritative)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infrastructure needed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Git + CI + AWX per DC + Vault for secrets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Resilience to GitOps outage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Existing config keeps serving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requirement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None outbound — fully air-gappable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Operational ownership · risks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What changes when you take on-prem and how we get to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Operational ownership shift (vs SaaS)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78308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On-prem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OS / patching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Runtime upgrades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 setup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Built-in multi-AZ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Active/active across DCs — you build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Capacity planning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Auto-scale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 provision for peak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built-in + SIEM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Your SOC + SIEM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Personnel access to runtime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 + you (contractual)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 only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Compliance audit posture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Inherited (SOC 2, FedRAMP Mod)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Yours to maintain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Release-window downtime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Rolling, transparent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Your change window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Key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6576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Self-managed = your patching, your incident response, your MTTR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K8s + Flex upgrade collisions if not decoupled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Config drift between DCs without disciplined GitOps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Secrets-sync lag if Vault replication degrades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GSLB itself a SPOF — mitigate with multi-site BIG-IP DNS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0233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39933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89120"/>
            <a:ext cx="36576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Decide VM vs K8s install path with platform team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Network team starts F5 GSLB + LTM change requests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PKI team confirms internal CA + cert-rotation automation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Stand up Vault HA with cross-DC replication first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Build CI pipeline; test config push to a single dev replica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 DR drill before go-live — verify &lt; 60 s RTO end-to-end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— On-Prem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