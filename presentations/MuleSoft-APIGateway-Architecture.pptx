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03120"/>
            <a:ext cx="12191695" cy="21945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12191695" cy="109728"/>
          </a:xfrm>
          <a:prstGeom prst="rect">
            <a:avLst/>
          </a:prstGeom>
          <a:solidFill>
            <a:srgbClr val="E97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377440"/>
            <a:ext cx="1124712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MuleSoft API Gateway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00400"/>
            <a:ext cx="1124712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0">
                <a:solidFill>
                  <a:srgbClr val="DEEBF7"/>
                </a:solidFill>
                <a:latin typeface="Calibri"/>
              </a:rPr>
              <a:t>Architecture for Citizens-Data APIs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26280"/>
            <a:ext cx="1124712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Calibri"/>
              </a:rPr>
              <a:t>Federated edge over SaaS, with private connectivity to the on-prem Microsoft integration stack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85216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Prepared by the Integration Architecture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217920"/>
            <a:ext cx="1124712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>
                <a:solidFill>
                  <a:srgbClr val="2E75B6"/>
                </a:solidFill>
                <a:latin typeface="Calibri"/>
              </a:rPr>
              <a:t>v1.0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Synopsis — Why we are doing this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41248"/>
            <a:ext cx="112471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2E75B6"/>
                </a:solidFill>
                <a:latin typeface="Calibri"/>
              </a:rPr>
              <a:t>Problem statement, scope, and the decision drivers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124712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•  We need a managed API edge for the new citizens-data APIs — security, rate limiting, observability, contract enforcement.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•  Orchestration, message transformation, and EDI mediation already run on the existing on-prem Microsoft stack — MuleSoft should NOT replicate that.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•  Both internal consumers (employees, internal apps) and external consumers (partners, public portals) must hit the same gateway with appropriate policy isolation.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•  Initial scale: 100,000 calls/day with realistic growth toward 1M+ in 24 months — pick a topology that survives that range.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•  Hard requirement: API traffic between the gateway and on-prem must NOT traverse the public internet.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•  Strong preference: SaaS — minimize infrastructure operations burden, inherit MuleSoft's compliance posture (SOC 2, FedRAMP Mod) for citizen data.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•  Identity federation aligned with corporate IdP (Entra ID / Okta); no second user store.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5989320"/>
            <a:ext cx="11247120" cy="502920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5989320"/>
            <a:ext cx="1106424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1">
                <a:solidFill>
                  <a:srgbClr val="1F4E79"/>
                </a:solidFill>
                <a:latin typeface="Calibri"/>
              </a:rPr>
              <a:t>Bottom line: Anypoint Flex Gateway in Connected mode, on a private MuleSoft-managed cloud space, with private connectivity back to on-prem.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01968"/>
            <a:ext cx="7315200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Calibri"/>
              </a:rPr>
              <a:t>MuleSoft API Gateway Architecture — Citizens-Data APIs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601968"/>
            <a:ext cx="914400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000" b="0">
                <a:solidFill>
                  <a:srgbClr val="333333"/>
                </a:solidFill>
                <a:latin typeface="Calibri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Architecture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41248"/>
            <a:ext cx="112471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2E75B6"/>
                </a:solidFill>
                <a:latin typeface="Calibri"/>
              </a:rPr>
              <a:t>Federated, dual-listener, private — Anypoint control plane + Private Space data plane</a:t>
            </a:r>
          </a:p>
        </p:txBody>
      </p:sp>
      <p:pic>
        <p:nvPicPr>
          <p:cNvPr id="5" name="Picture 4" descr="mulesoft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0"/>
            <a:ext cx="7955279" cy="49377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412480" y="1371600"/>
            <a:ext cx="3520440" cy="4937760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49640" y="1463040"/>
            <a:ext cx="3291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  <a:latin typeface="Calibri"/>
              </a:rPr>
              <a:t>Highlights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1874519"/>
            <a:ext cx="3383280" cy="4389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>
                <a:solidFill>
                  <a:srgbClr val="333333"/>
                </a:solidFill>
                <a:latin typeface="Calibri"/>
              </a:rPr>
              <a:t>•  Anypoint control plane (SaaS) — policy, catalog, monitoring; never sees data path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>
                <a:solidFill>
                  <a:srgbClr val="333333"/>
                </a:solidFill>
                <a:latin typeface="Calibri"/>
              </a:rPr>
              <a:t>•  Private Space data plane — dedicated runtime in MuleSoft-managed cloud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>
                <a:solidFill>
                  <a:srgbClr val="333333"/>
                </a:solidFill>
                <a:latin typeface="Calibri"/>
              </a:rPr>
              <a:t>•  Two listeners: external (WAF + DLB) and internal (private LB) on the same Flex Gateway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>
                <a:solidFill>
                  <a:srgbClr val="333333"/>
                </a:solidFill>
                <a:latin typeface="Calibri"/>
              </a:rPr>
              <a:t>•  JWT for external, mTLS for internal — separate policy bundles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>
                <a:solidFill>
                  <a:srgbClr val="333333"/>
                </a:solidFill>
                <a:latin typeface="Calibri"/>
              </a:rPr>
              <a:t>•  Private connectivity (ExpressRoute or Direct Connect) — no public internet on data path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>
                <a:solidFill>
                  <a:srgbClr val="333333"/>
                </a:solidFill>
                <a:latin typeface="Calibri"/>
              </a:rPr>
              <a:t>•  Independent IdP federation — Entra ID / Okta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>
                <a:solidFill>
                  <a:srgbClr val="333333"/>
                </a:solidFill>
                <a:latin typeface="Calibri"/>
              </a:rPr>
              <a:t>•  Dual-shipped observability — Anypoint + Splunk + Datadog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01968"/>
            <a:ext cx="7315200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Calibri"/>
              </a:rPr>
              <a:t>MuleSoft API Gateway Architecture — Citizens-Data APIs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601968"/>
            <a:ext cx="914400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000" b="0">
                <a:solidFill>
                  <a:srgbClr val="333333"/>
                </a:solidFill>
                <a:latin typeface="Calibri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Recommended product — Anypoint Flex Gateway (Connected mode)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41248"/>
            <a:ext cx="112471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2E75B6"/>
                </a:solidFill>
                <a:latin typeface="Calibri"/>
              </a:rPr>
              <a:t>Why Flex Gateway, not full Mule runtime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1247120" cy="3657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•  Purpose-built API gateway — Envoy proxy core wrapped with MuleSoft's policy framework. Not a full integration runtime forced into a gateway role.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•  Lightweight runtime — about 50 MB process footprint vs about 1 GB for a Mule runtime worker. Cold start under 5 seconds.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•  Single-digit millisecond overhead per request with the full security policy chain attached (JWT + rate limit + schema validation).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•  Hot policy reload — change a policy in API Manager and it goes live in seconds, no restart, no traffic drop.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•  Cloud-agnostic single binary — runs on Linux, Docker, EKS, AKS, OpenShift, or CloudHub 2.0. Same image everywhere.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•  Centrally managed from Anypoint Platform — policy catalog, SLA tiers, analytics, audit log — without writing your own control plane.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5486400"/>
            <a:ext cx="11247120" cy="960120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5532120"/>
            <a:ext cx="2743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1F4E79"/>
                </a:solidFill>
                <a:latin typeface="Calibri"/>
              </a:rPr>
              <a:t>Why this for 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870448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Gateway-only role (MS stack does orchestration / transformation / EDI) + private-cloud requirement + SaaS preference + citizen-data sensitivity = Flex Gateway in Connected mode on a Private Space is the lowest-friction, lowest-ops fit.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01968"/>
            <a:ext cx="7315200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Calibri"/>
              </a:rPr>
              <a:t>MuleSoft API Gateway Architecture — Citizens-Data APIs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601968"/>
            <a:ext cx="914400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000" b="0">
                <a:solidFill>
                  <a:srgbClr val="333333"/>
                </a:solidFill>
                <a:latin typeface="Calibri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Flex Gateway vs Full Mule Runtime — side by side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41248"/>
            <a:ext cx="112471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2E75B6"/>
                </a:solidFill>
                <a:latin typeface="Calibri"/>
              </a:rPr>
              <a:t>Same vendor, very different products; pick the role that fits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417320"/>
          <a:ext cx="11430000" cy="4983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4114800"/>
                <a:gridCol w="4114800"/>
              </a:tblGrid>
              <a:tr h="38334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Aspect</a:t>
                      </a:r>
                    </a:p>
                  </a:txBody>
                  <a:tcPr marL="73152" marR="73152" marT="36576" marB="36576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Anypoint Flex Gateway</a:t>
                      </a:r>
                    </a:p>
                  </a:txBody>
                  <a:tcPr marL="73152" marR="73152" marT="36576" marB="36576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Full Mule Runtime</a:t>
                      </a:r>
                    </a:p>
                  </a:txBody>
                  <a:tcPr marL="73152" marR="73152" marT="36576" marB="36576">
                    <a:solidFill>
                      <a:srgbClr val="1F4E79"/>
                    </a:solidFill>
                  </a:tcPr>
                </a:tc>
              </a:tr>
              <a:tr h="38334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Primary role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API gateway / edge proxy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Integration runtime + API gateway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8334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Core technology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Envoy proxy (CNCF, battle-tested)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JVM-based Mule engine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</a:tr>
              <a:tr h="38334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Footprint per replica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~50 MB process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~1 GB JVM worker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8334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Cold start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&lt; 5 seconds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30–60 seconds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</a:tr>
              <a:tr h="38334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Per-request overhead (full policies)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Single-digit ms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10–30 ms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8334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DataWeave transformation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Not available (by design)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Native, first-class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</a:tr>
              <a:tr h="38334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Orchestration / Flows / connectors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Not available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Full capability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8334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Custom logic extensibility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WebAssembly filters (Rust / Go / AssemblyScript)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Java + Groovy + DataWeave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</a:tr>
              <a:tr h="38334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Policy hot reload (no restart)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Limited — often requires app redeploy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8334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Deployment substrate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Linux / Docker / K8s / CloudHub 2.0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CloudHub / Runtime Fabric / on-prem JVM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</a:tr>
              <a:tr h="38334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Pricing per replica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Lower (smaller vCore consumption)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Higher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83352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Best fit for our scope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✔  Pure API edge — our chosen role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Overkill when no integration logic is needed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7315200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Calibri"/>
              </a:rPr>
              <a:t>MuleSoft API Gateway Architecture — Citizens-Data APIs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601968"/>
            <a:ext cx="914400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000" b="0">
                <a:solidFill>
                  <a:srgbClr val="333333"/>
                </a:solidFill>
                <a:latin typeface="Calibri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Network — no public internet on data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41248"/>
            <a:ext cx="112471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2E75B6"/>
                </a:solidFill>
                <a:latin typeface="Calibri"/>
              </a:rPr>
              <a:t>Components to provision for fully private connectivity, internal + external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417320"/>
          <a:ext cx="11612880" cy="4983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2743200"/>
                <a:gridCol w="4297680"/>
              </a:tblGrid>
              <a:tr h="38334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Component</a:t>
                      </a:r>
                    </a:p>
                  </a:txBody>
                  <a:tcPr marL="73152" marR="73152" marT="36576" marB="36576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Provisioned by</a:t>
                      </a:r>
                    </a:p>
                  </a:txBody>
                  <a:tcPr marL="73152" marR="73152" marT="36576" marB="36576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Purpose</a:t>
                      </a:r>
                    </a:p>
                  </a:txBody>
                  <a:tcPr marL="73152" marR="73152" marT="36576" marB="36576">
                    <a:solidFill>
                      <a:srgbClr val="1F4E79"/>
                    </a:solidFill>
                  </a:tcPr>
                </a:tc>
              </a:tr>
              <a:tr h="38334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CloudHub 2.0 Private Space (centralus or AWS region)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MuleSoft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Dedicated runtime VPC/VNet for the Flex Gateway data plane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8334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Anypoint Dedicated Load Balancer (DLB)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MuleSoft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Public custom domain + TLS termination for external listener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</a:tr>
              <a:tr h="38334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Anypoint Security Edge (WAF + DDoS)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MuleSoft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Threat protection on the external listener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8334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Internal Load Balancer (private only)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MuleSoft + Customer DNS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Internal listener reachable only via private network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</a:tr>
              <a:tr h="38334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ExpressRoute Private Peering (Azure) OR Direct Connect + Transit Gateway (AWS)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Customer + Carrier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Primary private link from MuleSoft cloud to on-prem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8334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Site-to-Site IPsec VPN over ER Microsoft Peering / DX Public VIF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Customer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Warm failover path — encrypted, also private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</a:tr>
              <a:tr h="38334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VNet peering (Azure) or VPC/TGW peering (AWS) to MuleSoft Private Space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Customer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Network adjacency between customer cloud and MuleSoft cloud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8334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Customer-side ExpressRoute Gateway / Transit Gateway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Customer Network Team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BGP termination of the private circuit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</a:tr>
              <a:tr h="38334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Private DNS zone link into MuleSoft Private Space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Customer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Backend hostname resolution (e.g. biztalk-prod.internal.yourco)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8334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TLS / mTLS certificates (public CA + internal CA)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Customer PKI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Edge TLS, mTLS for internal listener, mTLS to backend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</a:tr>
              <a:tr h="38334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Firewall rules — allow Private Space CIDR → MS stack on 443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Customer Network Team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Inbound to on-prem from the gateway only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8335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Splunk HEC private endpoint + Datadog Agent in VPC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Customer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Observability dual-ship without leaving the private network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7315200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Calibri"/>
              </a:rPr>
              <a:t>MuleSoft API Gateway Architecture — Citizens-Data APIs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601968"/>
            <a:ext cx="914400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000" b="0">
                <a:solidFill>
                  <a:srgbClr val="333333"/>
                </a:solidFill>
                <a:latin typeface="Calibri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Capacity planning — 100K calls/day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41248"/>
            <a:ext cx="112471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2E75B6"/>
                </a:solidFill>
                <a:latin typeface="Calibri"/>
              </a:rPr>
              <a:t>Traffic math, replica sizing, headroom, and indicative cost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1F4E79"/>
                </a:solidFill>
                <a:latin typeface="Calibri"/>
              </a:rPr>
              <a:t>Traffic math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78308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1920240"/>
              </a:tblGrid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L="73152" marR="73152" marT="36576" marB="36576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L="73152" marR="73152" marT="36576" marB="36576">
                    <a:solidFill>
                      <a:srgbClr val="1F4E79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Daily volume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100,000 calls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Average TPS (24h)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~1.16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Business-hours avg TPS (8h concentration)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~3.5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Peak TPS (5× business average)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~17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Worst-case spike (10× business average)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~35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396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Headroom over peak with recommended config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≈ 10×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263640" y="1417320"/>
            <a:ext cx="5760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1F4E79"/>
                </a:solidFill>
                <a:latin typeface="Calibri"/>
              </a:rPr>
              <a:t>Recommended configuration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63640" y="1783080"/>
          <a:ext cx="5577840" cy="2697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286000"/>
              </a:tblGrid>
              <a:tr h="337185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Setting</a:t>
                      </a:r>
                    </a:p>
                  </a:txBody>
                  <a:tcPr marL="73152" marR="73152" marT="36576" marB="36576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L="73152" marR="73152" marT="36576" marB="36576">
                    <a:solidFill>
                      <a:srgbClr val="1F4E79"/>
                    </a:solidFill>
                  </a:tcPr>
                </a:tc>
              </a:tr>
              <a:tr h="337185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CH 2.0 deployment size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0.1 vCore per replica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37185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Replica count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2 (multi-AZ)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</a:tr>
              <a:tr h="337185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Auto-scaling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Enabled — min 2 / max 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37185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Scale trigger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CPU &gt; 60% over 5 min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</a:tr>
              <a:tr h="337185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Anypoint DLB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1 (shared by both listeners)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37185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Security Edge (WAF)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On — external listener only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</a:tr>
              <a:tr h="337185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Anypoint Monitoring tier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Standard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457200" y="4572000"/>
            <a:ext cx="11430000" cy="1691640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4663440"/>
            <a:ext cx="7315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1F4E79"/>
                </a:solidFill>
                <a:latin typeface="Calibri"/>
              </a:rPr>
              <a:t>Indicative monthly cost (list pricing)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5074920"/>
          <a:ext cx="11064239" cy="1143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0"/>
                <a:gridCol w="3749039"/>
              </a:tblGrid>
              <a:tr h="163285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Line item</a:t>
                      </a:r>
                    </a:p>
                  </a:txBody>
                  <a:tcPr marL="73152" marR="73152" marT="36576" marB="36576"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Monthly (approx)</a:t>
                      </a:r>
                    </a:p>
                  </a:txBody>
                  <a:tcPr marL="73152" marR="73152" marT="36576" marB="36576">
                    <a:solidFill>
                      <a:srgbClr val="2E75B6"/>
                    </a:solidFill>
                  </a:tcPr>
                </a:tc>
              </a:tr>
              <a:tr h="16328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2× Flex Gateway replicas @ 0.1 vCore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$400 – $800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6328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Private Space base fee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$1,500 – $3,000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</a:tr>
              <a:tr h="16328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Dedicated Load Balancer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6328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Anypoint Monitoring (Standard)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$200 – $500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</a:tr>
              <a:tr h="16328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Data transfer (low at this volume)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~$50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6329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Total (list, gateway-tier only)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≈ $2,400 – $4,600 / mo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Calibri"/>
              </a:rPr>
              <a:t>Note: list price is the ceiling; enterprise discount typically reduces by 30–50%. ExpressRoute / Direct Connect costs are absorbed by existing network OpEx.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601968"/>
            <a:ext cx="7315200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Calibri"/>
              </a:rPr>
              <a:t>MuleSoft API Gateway Architecture — Citizens-Data APIs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601968"/>
            <a:ext cx="914400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000" b="0">
                <a:solidFill>
                  <a:srgbClr val="333333"/>
                </a:solidFill>
                <a:latin typeface="Calibri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Azure-native vs AWS-native Private Spaces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41248"/>
            <a:ext cx="112471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2E75B6"/>
                </a:solidFill>
                <a:latin typeface="Calibri"/>
              </a:rPr>
              <a:t>Same Anypoint product, two cloud substrates — pick by network adjacency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417320"/>
          <a:ext cx="11612880" cy="4983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4206240"/>
                <a:gridCol w="4206240"/>
              </a:tblGrid>
              <a:tr h="38334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Dimension</a:t>
                      </a:r>
                    </a:p>
                  </a:txBody>
                  <a:tcPr marL="73152" marR="73152" marT="36576" marB="36576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Azure-resident (centralus)</a:t>
                      </a:r>
                    </a:p>
                  </a:txBody>
                  <a:tcPr marL="73152" marR="73152" marT="36576" marB="36576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AWS-resident (us-east-* / us-west-*)</a:t>
                      </a:r>
                    </a:p>
                  </a:txBody>
                  <a:tcPr marL="73152" marR="73152" marT="36576" marB="36576">
                    <a:solidFill>
                      <a:srgbClr val="1F4E79"/>
                    </a:solidFill>
                  </a:tcPr>
                </a:tc>
              </a:tr>
              <a:tr h="38334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Cloud provider underneath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Microsoft Azure (centralus, Iowa)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Amazon Web Services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8334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Paired DR region (Anypoint-native)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eastus2 (Virginia)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Customer choice (e.g. us-west-2)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</a:tr>
              <a:tr h="38334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Hybrid connectivity primitive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ExpressRoute (Private Peering)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Direct Connect + Transit Gateway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8334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Customer cloud account required?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No — VNet peering is the path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Yes — AWS account needed for TGW peering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</a:tr>
              <a:tr h="38334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Backup connectivity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IPsec VPN over ER Microsoft Peering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IPsec VPN over public internet OR DX Public VIF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8334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IdP affinity (corporate fit)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Entra ID native — seamless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IAM / Cognito native — fine but separate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</a:tr>
              <a:tr h="38334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Feature parity status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Catching up — confirm GA per region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Reference implementation (most features land here first)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8334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Anypoint Security Edge (WAF) GA?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Verify with MuleSoft sales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</a:tr>
              <a:tr h="38334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Customer-managed keys (CMK)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Verify availability (enterprise add-on)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Verify availability (enterprise add-on)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8334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Pricing meters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Per-vCore + ExpressRoute egress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Per-vCore + DX data transfer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</a:tr>
              <a:tr h="38334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Best fit when…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MS stack runs in Azure; you already use ExpressRoute; Entra-first identity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AWS-native stack; existing DX presence; need newest features first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8335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Risk to flag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Regional GA + feature parity gaps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Need to stand up + operate an AWS account just for peering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7315200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Calibri"/>
              </a:rPr>
              <a:t>MuleSoft API Gateway Architecture — Citizens-Data APIs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601968"/>
            <a:ext cx="914400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000" b="0">
                <a:solidFill>
                  <a:srgbClr val="333333"/>
                </a:solidFill>
                <a:latin typeface="Calibri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On-prem deployment — when SaaS isn't viable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41248"/>
            <a:ext cx="112471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2E75B6"/>
                </a:solidFill>
                <a:latin typeface="Calibri"/>
              </a:rPr>
              <a:t>Same Flex Gateway binary, your data center, your operational responsibility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338560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On-prem keeps every byte of citizen data inside your perimeter and removes MuleSoft personnel access from the data plane entirely. The trade-off is that you inherit all operational responsibility — patching, scaling, HA, monitoring, incident response — that the SaaS path would otherwise absorb.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11680"/>
            <a:ext cx="5486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>
                <a:solidFill>
                  <a:srgbClr val="1F4E79"/>
                </a:solidFill>
                <a:latin typeface="Calibri"/>
              </a:rPr>
              <a:t>Deployment options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2331720"/>
          <a:ext cx="57607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286000"/>
                <a:gridCol w="1371600"/>
              </a:tblGrid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73152" marR="73152" marT="36576" marB="36576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What it is</a:t>
                      </a:r>
                    </a:p>
                  </a:txBody>
                  <a:tcPr marL="73152" marR="73152" marT="36576" marB="36576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When</a:t>
                      </a:r>
                    </a:p>
                  </a:txBody>
                  <a:tcPr marL="73152" marR="73152" marT="36576" marB="36576">
                    <a:solidFill>
                      <a:srgbClr val="1F4E79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Flex Gateway — Connected mode on-prem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Runtime in your DC; control plane still SaaS (outbound HTTPS to anypoint.mulesoft.com only)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You want central policy management but data plane on-prem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Flex Gateway — Local mode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Standalone — no Anypoint Platform connection; declarative config files only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Fully air-gapped / sovereign; no outbound at all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Mule Runtime on-prem (legacy)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Full Mule runtime + API Manager Gateway plugin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Only if you also need integration logic in-runtime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4736592"/>
            <a:ext cx="5760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Calibri"/>
              </a:rPr>
              <a:t>Substrates: bare-metal Linux · RHEL VM · Docker · Kubernetes (OpenShift / Rancher / EKS-Anywhere). Multi-arch images (amd64 + arm64).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011680"/>
            <a:ext cx="5486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>
                <a:solidFill>
                  <a:srgbClr val="1F4E79"/>
                </a:solidFill>
                <a:latin typeface="Calibri"/>
              </a:rPr>
              <a:t>Operational ownership shift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0" y="2331720"/>
          <a:ext cx="54864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3048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Concern</a:t>
                      </a:r>
                    </a:p>
                  </a:txBody>
                  <a:tcPr marL="73152" marR="73152" marT="36576" marB="36576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SaaS</a:t>
                      </a:r>
                    </a:p>
                  </a:txBody>
                  <a:tcPr marL="73152" marR="73152" marT="36576" marB="36576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On-prem</a:t>
                      </a:r>
                    </a:p>
                  </a:txBody>
                  <a:tcPr marL="73152" marR="73152" marT="36576" marB="36576">
                    <a:solidFill>
                      <a:srgbClr val="1F4E79"/>
                    </a:solidFill>
                  </a:tcPr>
                </a:tc>
              </a:tr>
              <a:tr h="3048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OS / patching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MuleSoft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You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Runtime upgrades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MuleSoft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You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</a:tr>
              <a:tr h="3048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HA setup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Built-in multi-AZ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Active/active across DCs — you build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Capacity planning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Auto-scale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You provision for peak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</a:tr>
              <a:tr h="3048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Monitoring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Anypoint Monitoring built-in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Your SOC + tooling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Personnel access to runtime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MuleSoft (contractual)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You only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</a:tr>
              <a:tr h="3048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Compliance audit posture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Inherited (SOC 2, FedRAMP Mod)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Yours to maintain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Release-window downtime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Rolling, transparent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Your change window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365760" y="5212080"/>
            <a:ext cx="11521440" cy="1280160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285232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>
                <a:solidFill>
                  <a:srgbClr val="1F4E79"/>
                </a:solidFill>
                <a:latin typeface="Calibri"/>
              </a:rPr>
              <a:t>When to choose on-prem over SaaS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596128"/>
            <a:ext cx="11338560" cy="914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>
                <a:solidFill>
                  <a:srgbClr val="333333"/>
                </a:solidFill>
                <a:latin typeface="Calibri"/>
              </a:rPr>
              <a:t>•  Regulatory regime mandates on-prem (some sovereign-cloud regimes, classified, certain healthcare jurisdictions)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>
                <a:solidFill>
                  <a:srgbClr val="333333"/>
                </a:solidFill>
                <a:latin typeface="Calibri"/>
              </a:rPr>
              <a:t>•  Your risk appetite cannot accept ANY MuleSoft personnel privileged access to runtime — even contractually constrained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>
                <a:solidFill>
                  <a:srgbClr val="333333"/>
                </a:solidFill>
                <a:latin typeface="Calibri"/>
              </a:rPr>
              <a:t>•  You already operate a hardened on-prem PII platform (HSM, dedicated SOC, DLP, SIEM) — adding the gateway is incremental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>
                <a:solidFill>
                  <a:srgbClr val="333333"/>
                </a:solidFill>
                <a:latin typeface="Calibri"/>
              </a:rPr>
              <a:t>•  Sustained volume &gt; 5–10M calls/day where amortized on-prem hardware undercuts the SaaS license model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>
                <a:solidFill>
                  <a:srgbClr val="333333"/>
                </a:solidFill>
                <a:latin typeface="Calibri"/>
              </a:rPr>
              <a:t>•  True air-gap operation required — no outbound connection to anypoint.mulesoft.com is permitted (forces Local mode)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601968"/>
            <a:ext cx="7315200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Calibri"/>
              </a:rPr>
              <a:t>MuleSoft API Gateway Architecture — Citizens-Data APIs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601968"/>
            <a:ext cx="914400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000" b="0">
                <a:solidFill>
                  <a:srgbClr val="333333"/>
                </a:solidFill>
                <a:latin typeface="Calibri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Risks &amp;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41248"/>
            <a:ext cx="112471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2E75B6"/>
                </a:solidFill>
                <a:latin typeface="Calibri"/>
              </a:rPr>
              <a:t>What we still need to verify and how we get to go-live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Calibri"/>
              </a:rPr>
              <a:t>Key risks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83080"/>
            <a:ext cx="566928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333333"/>
                </a:solidFill>
                <a:latin typeface="Calibri"/>
              </a:rPr>
              <a:t>•  Citizen data residency &amp; compliance — requires DPA, possibly BAA, plus the full controls bundle (doc 07).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333333"/>
                </a:solidFill>
                <a:latin typeface="Calibri"/>
              </a:rPr>
              <a:t>•  Azure Private Space feature parity vs AWS — confirm Security Edge, custom DLB, CMK with MuleSoft account team.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333333"/>
                </a:solidFill>
                <a:latin typeface="Calibri"/>
              </a:rPr>
              <a:t>•  MuleSoft personnel privileged access — agree memory-dump policy (consent-based, named approvers).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333333"/>
                </a:solidFill>
                <a:latin typeface="Calibri"/>
              </a:rPr>
              <a:t>•  Vendor lock-in — Anypoint policy format + WASM SDK are MuleSoft-specific.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333333"/>
                </a:solidFill>
                <a:latin typeface="Calibri"/>
              </a:rPr>
              <a:t>•  Auto-scale latency on CH 2.0 ~1–2 min — mitigate with spike-control policy.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333333"/>
                </a:solidFill>
                <a:latin typeface="Calibri"/>
              </a:rPr>
              <a:t>•  Talent: Flex Gateway specialists are scarcer than general MuleSoft developers — plan ramp-up.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41732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>
                <a:solidFill>
                  <a:srgbClr val="339933"/>
                </a:solidFill>
                <a:latin typeface="Calibri"/>
              </a:rPr>
              <a:t>Next steps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783080"/>
            <a:ext cx="548640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333333"/>
                </a:solidFill>
                <a:latin typeface="Calibri"/>
              </a:rPr>
              <a:t>•  Engage MuleSoft account team — confirm centralus Private Space GA, feature matrix, pricing for our scale.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333333"/>
                </a:solidFill>
                <a:latin typeface="Calibri"/>
              </a:rPr>
              <a:t>•  Open DPA / BAA conversation immediately — these are slow.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333333"/>
                </a:solidFill>
                <a:latin typeface="Calibri"/>
              </a:rPr>
              <a:t>•  Pre-go-live security checklist (doc 07 §12) as tabletop with CISO / DPO.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333333"/>
                </a:solidFill>
                <a:latin typeface="Calibri"/>
              </a:rPr>
              <a:t>•  Define IdP-side configuration with the IAM team — clients, scopes, claim shape.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333333"/>
                </a:solidFill>
                <a:latin typeface="Calibri"/>
              </a:rPr>
              <a:t>•  Network team starts the ExpressRoute / Transit Gateway change request — 2–3 week lead time.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333333"/>
                </a:solidFill>
                <a:latin typeface="Calibri"/>
              </a:rPr>
              <a:t>•  Stand up POC in a dev Private Space; validate one API end-to-end including private connectivity, mTLS, JWT.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333333"/>
                </a:solidFill>
                <a:latin typeface="Calibri"/>
              </a:rPr>
              <a:t>•  Decide observability stack (Splunk + Datadog) and provision private endpoints into the Private Space.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01968"/>
            <a:ext cx="7315200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Calibri"/>
              </a:rPr>
              <a:t>MuleSoft API Gateway Architecture — Citizens-Data APIs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601968"/>
            <a:ext cx="914400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000" b="0">
                <a:solidFill>
                  <a:srgbClr val="333333"/>
                </a:solidFill>
                <a:latin typeface="Calibri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