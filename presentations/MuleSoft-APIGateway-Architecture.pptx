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MuleSoft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>
                <a:solidFill>
                  <a:srgbClr val="DEEBF7"/>
                </a:solidFill>
                <a:latin typeface="Calibri"/>
              </a:rPr>
              <a:t>Architecture for Citizens-Data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Federated edge over SaaS, with private connectivity to the on-prem Microsoft integration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Prepared by the Integration Architecture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  <a:latin typeface="Calibri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Synopsis — Why we are doing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Problem statement, scope, and the decision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We need a managed API edge for the new citizens-data APIs — security, rate limiting, observability, contract enforcement.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Orchestration, message transformation, and EDI mediation already run on the existing on-prem Microsoft stack — MuleSoft should NOT replicate that.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Both internal consumers (employees, internal apps) and external consumers (partners, public portals) must hit the same gateway with appropriate policy isolation.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Initial scale: 100,000 calls/day with realistic growth toward 1M+ in 24 months — pick a topology that survives that range.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Hard requirement: API traffic between the gateway and on-prem must NOT traverse the public internet.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Strong preference: SaaS — minimize infrastructure operations burden, inherit MuleSoft's compliance posture (SOC 2, FedRAMP Mod) for citizen data.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Identity federation aligned with corporate IdP (Entra ID / Okta); no second user store.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Bottom line: Anypoint Flex Gateway in Connected mode, on a private MuleSoft-managed cloud space, with private connectivity back to on-prem.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Federated, dual-listener, private — Anypoint control plane + Private Space data plane</a:t>
            </a:r>
          </a:p>
        </p:txBody>
      </p:sp>
      <p:pic>
        <p:nvPicPr>
          <p:cNvPr id="5" name="Picture 4" descr="mulesof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955279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371600"/>
            <a:ext cx="3520440" cy="49377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63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74519"/>
            <a:ext cx="3383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Anypoint control plane (SaaS) — policy, catalog, monitoring; never sees data path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Private Space data plane — dedicated runtime in MuleSoft-managed cloud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Two listeners: external (WAF + DLB) and internal (private LB) on the same Flex Gateway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JWT for external, mTLS for internal — separate policy bundles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Private connectivity (ExpressRoute or Direct Connect) — no public internet on data path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Independent IdP federation — Entra ID / Okta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 Dual-shipped observability — Anypoint + Splunk + Datadog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Recommended product — Anypoint Flex Gateway (Connected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Why Flex Gateway, not full Mule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Purpose-built API gateway — Envoy proxy core wrapped with MuleSoft's policy framework. Not a full integration runtime forced into a gateway role.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Lightweight runtime — about 50 MB process footprint vs about 1 GB for a Mule runtime worker. Cold start under 5 seconds.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Single-digit millisecond overhead per request with the full security policy chain attached (JWT + rate limit + schema validation).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Hot policy reload — change a policy in API Manager and it goes live in seconds, no restart, no traffic drop.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Cloud-agnostic single binary — runs on Linux, Docker, EKS, AKS, OpenShift, or CloudHub 2.0. Same image everywhere.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Centrally managed from Anypoint Platform — policy catalog, SLA tiers, analytics, audit log — without writing your own control plane.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Why this for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704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Gateway-only role (MS stack does orchestration / transformation / EDI) + private-cloud requirement + SaaS preference + citizen-data sensitivity = Flex Gateway in Connected mode on a Private Space is the lowest-friction, lowest-ops 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Flex Gateway vs Full Mule Runtime —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Same vendor, very different products; pick the role that fits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114800"/>
              </a:tblGrid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Anypoint Flex Gateway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 Mule Runtime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Primary role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API gateway / edge proxy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Integration runtime + API gateway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Core technology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Envoy proxy (CNCF, battle-tested)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JVM-based Mule engine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Footprint per replica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~50 MB process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 GB JVM worker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Cold start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 5 seconds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30–60 seconds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Per-request overhead (full policies)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Single-digit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10–30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DataWeave transformation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Not available (by design)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Native, first-class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Orchestration / Flows / connectors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Full capability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Custom logic extensibility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WebAssembly filters (Rust / Go / AssemblyScript)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Java + Groovy + DataWeave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Policy hot reload (no restart)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Limited — often requires app redeploy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Deployment substrate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Linux / Docker / K8s / CloudHub 2.0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CloudHub / Runtime Fabric / on-prem JVM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Pricing per replica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Lower (smaller vCore consumption)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Higher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Best fit for our scope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✔  Pure API edge — our chosen role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Overkill when no integration logic is needed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Network — no public internet on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Components to provision for fully private connectivity, internal + external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4297680"/>
              </a:tblGrid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Provisioned by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CloudHub 2.0 Private Space (centralus or AWS region)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Dedicated runtime VPC/VNet for the Flex Gateway data plane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Dedicated Load Balancer (DLB)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Public custom domain + TLS termination for external listener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Security Edge (WAF + DDoS)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Threat protection on the external listener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Internal Load Balancer (private only)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MuleSoft + Customer DNS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Internal listener reachable only via private network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ExpressRoute Private Peering (Azure) OR Direct Connect + Transit Gateway (AWS)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+ Carrier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Primary private link from MuleSoft cloud to on-prem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Site-to-Site IPsec VPN over ER Microsoft Peering / DX Public VIF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Warm failover path — encrypted, also private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VNet peering (Azure) or VPC/TGW peering (AWS) to MuleSoft Private 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Network adjacency between customer cloud and MuleSoft cloud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Customer-side ExpressRoute Gateway / Transit Gateway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Network Team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BGP termination of the private circuit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Private DNS zone link into MuleSoft Private 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Backend hostname resolution (e.g. biztalk-prod.internal.yourco)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TLS / mTLS certificates (public CA + internal CA)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PKI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Edge TLS, mTLS for internal listener, mTLS to backend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Firewall rules — allow Private Space CIDR → MS stack on 443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Network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Inbound to on-prem from the gateway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Splunk HEC private endpoint + Datadog Agent in VPC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Observability dual-ship without leaving the private network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Capacity planning — 100K calls/day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Traffic math, replica sizing, headroom, and indicative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Traffic math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920240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Daily 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100,000 calls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Average TPS (24h)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~1.16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Business-hours avg TPS (8h concentration)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Peak TPS (5× business average)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~17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Worst-case spike (10× business average)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Headroom over peak with recommended config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≈ 10×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4173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Recommended configuration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783080"/>
          <a:ext cx="55778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</a:tblGrid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CH 2.0 deployment size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 vCore per replica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Replica count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 (multi-AZ)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Auto-scaling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Enabled — min 2 / max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Scale trigger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CPU &gt; 60% over 5 min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Anypoint DLB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 (shared by both listeners)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Security Edge (WAF)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On — external listener only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Anypoint Monitoring tier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572000"/>
            <a:ext cx="11430000" cy="16916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Indicative monthly cost (list pricing)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5074920"/>
          <a:ext cx="11064239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 (approx)</a:t>
                      </a:r>
                    </a:p>
                  </a:txBody>
                  <a:tcPr marL="73152" marR="73152" marT="36576" marB="36576">
                    <a:solidFill>
                      <a:srgbClr val="2E75B6"/>
                    </a:solidFill>
                  </a:tcPr>
                </a:tc>
              </a:tr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2× Flex Gateway replicas @ 0.1 vCore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$400 – $800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Private Space base fee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$1,500 – $3,000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Dedicated Load Balancer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Monitoring (Standard)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$200 – $500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16328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Data transfer (low at this volume)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~$50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632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Total (list, gateway-tier only)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≈ $2,400 – $4,600 / mo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Note: list price is the ceiling; enterprise discount typically reduces by 30–50%. ExpressRoute / Direct Connect costs are absorbed by existing network OpEx.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Azure-native vs AWS-native Private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Same Anypoint product, two cloud substrates — pick by network adjacency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4206240"/>
              </a:tblGrid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Azure-resident (centralus)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AWS-resident (us-east-* / us-west-*)</a:t>
                      </a:r>
                    </a:p>
                  </a:txBody>
                  <a:tcPr marL="73152" marR="73152" marT="36576" marB="36576">
                    <a:solidFill>
                      <a:srgbClr val="1F4E79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Cloud provider underneath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Microsoft Azure (centralus, Iowa)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Amazon Web Services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Paired DR region (Anypoint-native)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eastus2 (Virginia)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choice (e.g. us-west-2)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Hybrid connectivity primitive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ExpressRoute (Private Peering)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Direct Connect + Transit Gateway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 cloud account required?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— VNet peering is the path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Yes — AWS account needed for TGW peering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Backup connectivity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IPsec VPN over ER Microsoft Peering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IPsec VPN over public internet OR DX Public VIF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IdP affinity (corporate fit)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Entra ID native — seamless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IAM / Cognito native — fine but separate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Feature parity status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Catching up — confirm GA per region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Reference implementation (most features land here first)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Anypoint Security Edge (WAF) GA?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Verify with MuleSoft sales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Customer-managed keys (CMK)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Verify availability (enterprise add-on)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Verify availability (enterprise add-on)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Pricing meters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Per-vCore + ExpressRoute egress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Per-vCore + DX data transfer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  <a:tr h="38334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Best fit when…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MS stack runs in Azure; you already use ExpressRoute; Entra-first identity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AWS-native stack; existing DX presence; need newest features first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33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Risk to flag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Regional GA + feature parity gaps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Need to stand up + operate an AWS account just for peering</a:t>
                      </a:r>
                    </a:p>
                  </a:txBody>
                  <a:tcPr marL="73152" marR="73152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E75B6"/>
                </a:solidFill>
                <a:latin typeface="Calibri"/>
              </a:rPr>
              <a:t>What we still need to verify and how we get to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669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Citizen data residency &amp; compliance — requires DPA, possibly BAA, plus the full controls bundle (doc 07).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Azure Private Space feature parity vs AWS — confirm Security Edge, custom DLB, CMK with MuleSoft account team.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MuleSoft personnel privileged access — agree memory-dump policy (consent-based, named approvers).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Vendor lock-in — Anypoint policy format + WASM SDK are MuleSoft-specific.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Auto-scale latency on CH 2.0 ~1–2 min — mitigate with spike-control policy.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Talent: Flex Gateway specialists are scarcer than general MuleSoft developers — plan ramp-up.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339933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Engage MuleSoft account team — confirm centralus Private Space GA, feature matrix, pricing for our scale.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Open DPA / BAA conversation immediately — these are slow.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Pre-go-live security checklist (doc 07 §12) as tabletop with CISO / DPO.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Define IdP-side configuration with the IAM team — clients, scopes, claim shape.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Network team starts the ExpressRoute / Transit Gateway change request — 2–3 week lead time.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Stand up POC in a dev Private Space; validate one API end-to-end including private connectivity, mTLS, JWT.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Decide observability stack (Splunk + Datadog) and provision private endpoints into the Private 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MuleSoft API Gateway Architecture — Citizens-Data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